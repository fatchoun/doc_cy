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3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2560320" cy="5070348"/>
          </a:xfrm>
          <a:prstGeom prst="rect">
            <a:avLst/>
          </a:prstGeom>
          <a:solidFill>
            <a:srgbClr val="004080"/>
          </a:solidFill>
          <a:ln w="12700">
            <a:solidFill>
              <a:srgbClr val="0040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 rot="16200000">
            <a:off x="45720" y="137160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MÉDECINE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 rot="16200000">
            <a:off x="45720" y="29260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VORONÈGE · 2021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0" y="73152"/>
            <a:ext cx="45720" cy="507034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34640" y="548640"/>
            <a:ext cx="61264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ANATOMIE FONCTIONNELLE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SYSTÈME DIGESTIF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2834640" y="2606040"/>
            <a:ext cx="6126480" cy="3657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34640" y="2697480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Bref aperçu de l'organogenèse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834640" y="3291840"/>
            <a:ext cx="6126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Université médicale d'État de Voronezh du nom N. N. Burdenko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Ministère de la Santé de Russie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834640" y="3931920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Département d'anatomie humaine normale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834640" y="438912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Maître de conférences, Candidat en sciences médicales  Sokolov D. A.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6699"/>
          </a:solidFill>
          <a:ln w="12700">
            <a:solidFill>
              <a:srgbClr val="0066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abordées dans le cours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9C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68680"/>
            <a:ext cx="73152" cy="868680"/>
          </a:xfrm>
          <a:prstGeom prst="rect">
            <a:avLst/>
          </a:prstGeom>
          <a:solidFill>
            <a:srgbClr val="006699"/>
          </a:solidFill>
          <a:ln w="12700">
            <a:solidFill>
              <a:srgbClr val="0066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9418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941832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Généralités sur la splanchnologie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874520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9C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874520"/>
            <a:ext cx="73152" cy="868680"/>
          </a:xfrm>
          <a:prstGeom prst="rect">
            <a:avLst/>
          </a:prstGeom>
          <a:solidFill>
            <a:srgbClr val="006699"/>
          </a:solidFill>
          <a:ln w="12700">
            <a:solidFill>
              <a:srgbClr val="0066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14400" y="1947672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Topographie des organes internes (holotopie, syntopie, squélettotopie)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" y="2880360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9C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880360"/>
            <a:ext cx="73152" cy="868680"/>
          </a:xfrm>
          <a:prstGeom prst="rect">
            <a:avLst/>
          </a:prstGeom>
          <a:solidFill>
            <a:srgbClr val="006699"/>
          </a:solidFill>
          <a:ln w="12700">
            <a:solidFill>
              <a:srgbClr val="0066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" y="29535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14400" y="2953512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Composants du système digestif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0040" y="3886200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9C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886200"/>
            <a:ext cx="73152" cy="868680"/>
          </a:xfrm>
          <a:prstGeom prst="rect">
            <a:avLst/>
          </a:prstGeom>
          <a:solidFill>
            <a:srgbClr val="006699"/>
          </a:solidFill>
          <a:ln w="12700">
            <a:solidFill>
              <a:srgbClr val="0066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9768" y="39593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14400" y="3959352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de la paroi du tube digestif. Types de digestion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54880" y="868680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9C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868680"/>
            <a:ext cx="73152" cy="868680"/>
          </a:xfrm>
          <a:prstGeom prst="rect">
            <a:avLst/>
          </a:prstGeom>
          <a:solidFill>
            <a:srgbClr val="006699"/>
          </a:solidFill>
          <a:ln w="12700">
            <a:solidFill>
              <a:srgbClr val="0066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64608" y="9418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349240" y="941832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Anatomie fonctionnelle des organes du tractus digestif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54880" y="1874520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9C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1874520"/>
            <a:ext cx="73152" cy="868680"/>
          </a:xfrm>
          <a:prstGeom prst="rect">
            <a:avLst/>
          </a:prstGeom>
          <a:solidFill>
            <a:srgbClr val="006699"/>
          </a:solidFill>
          <a:ln w="12700">
            <a:solidFill>
              <a:srgbClr val="00669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64608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349240" y="1947672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 du système digestif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754880" y="2880360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9C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2880360"/>
            <a:ext cx="73152" cy="868680"/>
          </a:xfrm>
          <a:prstGeom prst="rect">
            <a:avLst/>
          </a:prstGeom>
          <a:solidFill>
            <a:srgbClr val="006699"/>
          </a:solidFill>
          <a:ln w="12700">
            <a:solidFill>
              <a:srgbClr val="00669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64608" y="29535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5349240" y="2953512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Principales anomalies congénitales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754880" y="3886200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9C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54880" y="3886200"/>
            <a:ext cx="73152" cy="868680"/>
          </a:xfrm>
          <a:prstGeom prst="rect">
            <a:avLst/>
          </a:prstGeom>
          <a:solidFill>
            <a:srgbClr val="006699"/>
          </a:solidFill>
          <a:ln w="12700">
            <a:solidFill>
              <a:srgbClr val="00669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64608" y="39593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5349240" y="3959352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Anatomie fonctionnelle du péritoine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6699"/>
          </a:solidFill>
          <a:ln w="12700">
            <a:solidFill>
              <a:srgbClr val="0066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Splanchnologie — Généralités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822960"/>
          </a:xfrm>
          <a:prstGeom prst="rect">
            <a:avLst/>
          </a:prstGeom>
          <a:solidFill>
            <a:srgbClr val="D4E8F5"/>
          </a:solidFill>
          <a:ln w="12700">
            <a:solidFill>
              <a:srgbClr val="0099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05840"/>
            <a:ext cx="8321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Splanchnologie </a:t>
            </a:r>
            <a:pPr indent="0" marL="0">
              <a:buNone/>
            </a:pPr>
            <a:r>
              <a:rPr lang="en-US" sz="1500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(du lat. splanchna — viscères) : branche de l'anatomie qui étudie la structure des </a:t>
            </a:r>
            <a:pPr indent="0" marL="0">
              <a:buNone/>
            </a:pPr>
            <a:r>
              <a:rPr lang="en-US" sz="15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organes internes.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4320" y="1965960"/>
            <a:ext cx="2011680" cy="2651760"/>
          </a:xfrm>
          <a:prstGeom prst="rect">
            <a:avLst/>
          </a:prstGeom>
          <a:solidFill>
            <a:srgbClr val="006633"/>
          </a:solidFill>
          <a:ln w="12700">
            <a:solidFill>
              <a:srgbClr val="0066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0116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DIGESTIF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788920"/>
            <a:ext cx="182880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880360"/>
            <a:ext cx="18288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Traitement des aliments,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absorption des nutriments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468880" y="1965960"/>
            <a:ext cx="2011680" cy="2651760"/>
          </a:xfrm>
          <a:prstGeom prst="rect">
            <a:avLst/>
          </a:prstGeom>
          <a:solidFill>
            <a:srgbClr val="004499"/>
          </a:solidFill>
          <a:ln w="12700">
            <a:solidFill>
              <a:srgbClr val="0044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0" y="20116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RESPIRATOIRE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560320" y="2788920"/>
            <a:ext cx="182880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0" y="2880360"/>
            <a:ext cx="18288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Échanges gazeux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(O₂ / CO₂)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1965960"/>
            <a:ext cx="2011680" cy="2651760"/>
          </a:xfrm>
          <a:prstGeom prst="rect">
            <a:avLst/>
          </a:prstGeom>
          <a:solidFill>
            <a:srgbClr val="770066"/>
          </a:solidFill>
          <a:ln w="12700">
            <a:solidFill>
              <a:srgbClr val="7700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20116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URINAIRE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2788920"/>
            <a:ext cx="182880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2880360"/>
            <a:ext cx="18288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Élimination des produits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métabolisme azoté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58000" y="1965960"/>
            <a:ext cx="2011680" cy="2651760"/>
          </a:xfrm>
          <a:prstGeom prst="rect">
            <a:avLst/>
          </a:prstGeom>
          <a:solidFill>
            <a:srgbClr val="993300"/>
          </a:solidFill>
          <a:ln w="12700">
            <a:solidFill>
              <a:srgbClr val="9933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49440" y="20116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GÉNITAL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949440" y="2788920"/>
            <a:ext cx="182880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49440" y="2880360"/>
            <a:ext cx="18288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reproductive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74320" y="475488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Organes CREUX (lumière) : intestin, estomac…     |     → Organes PARENCHYMATEUX : foie, pancréas, reins…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6699"/>
          </a:solidFill>
          <a:ln w="12700">
            <a:solidFill>
              <a:srgbClr val="0066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Topographie des organes internes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828800" cy="109728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92608" y="1051560"/>
            <a:ext cx="179222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HOLOTOPIE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103120" y="1005840"/>
            <a:ext cx="67665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40280" y="1051560"/>
            <a:ext cx="6492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de l'organe par rapport à une partie du corps : cavité corporelle, étage de la cavité péritonéale, région abdominale, projection cutanée.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2286000"/>
            <a:ext cx="1828800" cy="1097280"/>
          </a:xfrm>
          <a:prstGeom prst="rect">
            <a:avLst/>
          </a:prstGeom>
          <a:solidFill>
            <a:srgbClr val="006699"/>
          </a:solidFill>
          <a:ln w="12700">
            <a:solidFill>
              <a:srgbClr val="0066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" y="2331720"/>
            <a:ext cx="179222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SQUÉLETTOTOPIE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103120" y="2286000"/>
            <a:ext cx="67665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40280" y="2331720"/>
            <a:ext cx="6492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 de l'organe par rapport aux éléments du squelette (vertèbres, côtes, sternum).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4320" y="3566160"/>
            <a:ext cx="1828800" cy="1097280"/>
          </a:xfrm>
          <a:prstGeom prst="rect">
            <a:avLst/>
          </a:prstGeom>
          <a:solidFill>
            <a:srgbClr val="005544"/>
          </a:solidFill>
          <a:ln w="12700">
            <a:solidFill>
              <a:srgbClr val="0055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608" y="3611880"/>
            <a:ext cx="179222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SYNTOPIE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103120" y="3566160"/>
            <a:ext cx="67665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40280" y="3611880"/>
            <a:ext cx="6492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 de l'organe avec les organes voisins (antérieur, postérieur, latéral).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74320" y="4709160"/>
            <a:ext cx="8595360" cy="365760"/>
          </a:xfrm>
          <a:prstGeom prst="rect">
            <a:avLst/>
          </a:prstGeom>
          <a:solidFill>
            <a:srgbClr val="D4E8F5"/>
          </a:solidFill>
          <a:ln w="12700">
            <a:solidFill>
              <a:srgbClr val="D4E8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473659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Algorithme de description d'un organe : nom (russe/latin) → holotopie → squélettotopie → syntopie → structure externe → structure interne → caractéristiques liées à l'âge → fonction.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6699"/>
          </a:solidFill>
          <a:ln w="12700">
            <a:solidFill>
              <a:srgbClr val="0066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digestif — Composition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14800" cy="45720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601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TRACTUS DIGESTIF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4114800" cy="502920"/>
          </a:xfrm>
          <a:prstGeom prst="rect">
            <a:avLst/>
          </a:prstGeom>
          <a:solidFill>
            <a:srgbClr val="D4E8F5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527048"/>
            <a:ext cx="384048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Cavité buccale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2075688"/>
            <a:ext cx="4114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093976"/>
            <a:ext cx="384048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Pharynx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642616"/>
            <a:ext cx="4114800" cy="502920"/>
          </a:xfrm>
          <a:prstGeom prst="rect">
            <a:avLst/>
          </a:prstGeom>
          <a:solidFill>
            <a:srgbClr val="D4E8F5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660904"/>
            <a:ext cx="384048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Œsophage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3209544"/>
            <a:ext cx="4114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3227832"/>
            <a:ext cx="384048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Estomac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3776472"/>
            <a:ext cx="4114800" cy="502920"/>
          </a:xfrm>
          <a:prstGeom prst="rect">
            <a:avLst/>
          </a:prstGeom>
          <a:solidFill>
            <a:srgbClr val="D4E8F5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794760"/>
            <a:ext cx="384048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Intestin grêle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(duodénum · jéjunum · iléon)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4343400"/>
            <a:ext cx="4114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4361688"/>
            <a:ext cx="384048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 intestin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(cæcum · côlon · rectum)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63440" y="960120"/>
            <a:ext cx="4206240" cy="457200"/>
          </a:xfrm>
          <a:prstGeom prst="rect">
            <a:avLst/>
          </a:prstGeom>
          <a:solidFill>
            <a:srgbClr val="006699"/>
          </a:solidFill>
          <a:ln w="12700">
            <a:solidFill>
              <a:srgbClr val="0066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96012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GLANDES DIGESTIVES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663440" y="1508760"/>
            <a:ext cx="4206240" cy="1600200"/>
          </a:xfrm>
          <a:prstGeom prst="rect">
            <a:avLst/>
          </a:prstGeom>
          <a:solidFill>
            <a:srgbClr val="F0F5F9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1581912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Foie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754880" y="2011680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Sécrétion de bile (digestion des graisses),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 de protéines plasmatiques,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détoxification.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663440" y="3200400"/>
            <a:ext cx="4206240" cy="1600200"/>
          </a:xfrm>
          <a:prstGeom prst="rect">
            <a:avLst/>
          </a:prstGeom>
          <a:solidFill>
            <a:srgbClr val="F0F5F9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3273552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Pancréas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754880" y="3703320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Sécrétion d'enzymes digestives (protéases,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lipases, amylases) et d'insuline / glucagon.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6699"/>
          </a:solidFill>
          <a:ln w="12700">
            <a:solidFill>
              <a:srgbClr val="0066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digestion — Définition et fonctions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109728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05840"/>
            <a:ext cx="8321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digestion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 l'ensemble des processus assurant le traitement mécanique et enzymatique des produits alimentaires et la décomposition des substances ingérées en éléments dépourvus de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spécificité antigénique.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2240280"/>
            <a:ext cx="27432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9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2240280"/>
            <a:ext cx="2743200" cy="502920"/>
          </a:xfrm>
          <a:prstGeom prst="rect">
            <a:avLst/>
          </a:prstGeom>
          <a:solidFill>
            <a:srgbClr val="006699"/>
          </a:solidFill>
          <a:ln w="12700">
            <a:solidFill>
              <a:srgbClr val="0066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28600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228600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Traitement mécanique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chimique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2788920"/>
            <a:ext cx="25603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Broyage (mastication), malaxage, hydrolyse enzymatique des aliments.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154680" y="2240280"/>
            <a:ext cx="27432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9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54680" y="2240280"/>
            <a:ext cx="2743200" cy="502920"/>
          </a:xfrm>
          <a:prstGeom prst="rect">
            <a:avLst/>
          </a:prstGeom>
          <a:solidFill>
            <a:srgbClr val="006699"/>
          </a:solidFill>
          <a:ln w="12700">
            <a:solidFill>
              <a:srgbClr val="0066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228600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703320" y="228600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Absorption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46120" y="2788920"/>
            <a:ext cx="25603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Passage des nutriments dans le sang et la lymphe (intestin grêle).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035040" y="2240280"/>
            <a:ext cx="27432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9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2240280"/>
            <a:ext cx="2743200" cy="502920"/>
          </a:xfrm>
          <a:prstGeom prst="rect">
            <a:avLst/>
          </a:prstGeom>
          <a:solidFill>
            <a:srgbClr val="006699"/>
          </a:solidFill>
          <a:ln w="12700">
            <a:solidFill>
              <a:srgbClr val="0066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228600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583680" y="228600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Élimination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126480" y="2788920"/>
            <a:ext cx="25603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Expulsion des substances non digérées (fibres, résidus).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6699"/>
          </a:solidFill>
          <a:ln w="12700">
            <a:solidFill>
              <a:srgbClr val="0066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de la paroi du tube digestif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103120" cy="822960"/>
          </a:xfrm>
          <a:prstGeom prst="rect">
            <a:avLst/>
          </a:prstGeom>
          <a:solidFill>
            <a:srgbClr val="CC4400"/>
          </a:solidFill>
          <a:ln w="12700">
            <a:solidFill>
              <a:srgbClr val="CC44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0584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MUQUEUSE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(tunica mucosa)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423160" y="1005840"/>
            <a:ext cx="6446520" cy="822960"/>
          </a:xfrm>
          <a:prstGeom prst="rect">
            <a:avLst/>
          </a:prstGeom>
          <a:solidFill>
            <a:srgbClr val="F0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23160" y="1005840"/>
            <a:ext cx="54864" cy="822960"/>
          </a:xfrm>
          <a:prstGeom prst="rect">
            <a:avLst/>
          </a:prstGeom>
          <a:solidFill>
            <a:srgbClr val="CC4400"/>
          </a:solidFill>
          <a:ln w="12700">
            <a:solidFill>
              <a:srgbClr val="CC44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78608" y="1051560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Villosités, cryptes, glandes, follicules lymphoïdes,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lame musculaire muqueuse.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2011680"/>
            <a:ext cx="2103120" cy="822960"/>
          </a:xfrm>
          <a:prstGeom prst="rect">
            <a:avLst/>
          </a:prstGeom>
          <a:solidFill>
            <a:srgbClr val="006699"/>
          </a:solidFill>
          <a:ln w="12700">
            <a:solidFill>
              <a:srgbClr val="0066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201168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SOUS-MUQUEUSE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(tela submucosa)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23160" y="2011680"/>
            <a:ext cx="6446520" cy="822960"/>
          </a:xfrm>
          <a:prstGeom prst="rect">
            <a:avLst/>
          </a:prstGeom>
          <a:solidFill>
            <a:srgbClr val="F0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23160" y="2011680"/>
            <a:ext cx="54864" cy="822960"/>
          </a:xfrm>
          <a:prstGeom prst="rect">
            <a:avLst/>
          </a:prstGeom>
          <a:solidFill>
            <a:srgbClr val="006699"/>
          </a:solidFill>
          <a:ln w="12700">
            <a:solidFill>
              <a:srgbClr val="0066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78608" y="2057400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Tissu conjonctif lâche — vaisseaux, nerfs, glandes.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3017520"/>
            <a:ext cx="2103120" cy="82296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301752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MUSCULAIRE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(tunica muscularis)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423160" y="3017520"/>
            <a:ext cx="6446520" cy="822960"/>
          </a:xfrm>
          <a:prstGeom prst="rect">
            <a:avLst/>
          </a:prstGeom>
          <a:solidFill>
            <a:srgbClr val="F0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23160" y="3017520"/>
            <a:ext cx="54864" cy="82296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78608" y="3063240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Couche circulaire (interne) + longitudinale (externe)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[+ oblique dans l'estomac].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74320" y="4023360"/>
            <a:ext cx="2103120" cy="822960"/>
          </a:xfrm>
          <a:prstGeom prst="rect">
            <a:avLst/>
          </a:prstGeom>
          <a:solidFill>
            <a:srgbClr val="445500"/>
          </a:solidFill>
          <a:ln w="12700">
            <a:solidFill>
              <a:srgbClr val="4455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02336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adventice ou séreuse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423160" y="4023360"/>
            <a:ext cx="6446520" cy="822960"/>
          </a:xfrm>
          <a:prstGeom prst="rect">
            <a:avLst/>
          </a:prstGeom>
          <a:solidFill>
            <a:srgbClr val="F0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423160" y="4023360"/>
            <a:ext cx="54864" cy="822960"/>
          </a:xfrm>
          <a:prstGeom prst="rect">
            <a:avLst/>
          </a:prstGeom>
          <a:solidFill>
            <a:srgbClr val="445500"/>
          </a:solidFill>
          <a:ln w="12700">
            <a:solidFill>
              <a:srgbClr val="4455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78608" y="4069080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Adventice (extra-péritonéale) ou péritoine (intra-péritonéale).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Œsophage · Estomac · Intestin grêle · Gros intestin — même structure de base, adaptations spécifiques par segment.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6699"/>
          </a:solidFill>
          <a:ln w="12700">
            <a:solidFill>
              <a:srgbClr val="0066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Biomécanique de la déglutition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" y="1234440"/>
            <a:ext cx="502920" cy="502920"/>
          </a:xfrm>
          <a:prstGeom prst="ellipse">
            <a:avLst/>
          </a:prstGeom>
          <a:solidFill>
            <a:srgbClr val="006699"/>
          </a:solidFill>
          <a:ln w="12700">
            <a:solidFill>
              <a:srgbClr val="0066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234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32688" y="1078992"/>
            <a:ext cx="342900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muscles du voile du palais se contractent et ouvrent les orifices des trompes auditives.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233172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7472" y="2560320"/>
            <a:ext cx="502920" cy="502920"/>
          </a:xfrm>
          <a:prstGeom prst="ellipse">
            <a:avLst/>
          </a:prstGeom>
          <a:solidFill>
            <a:srgbClr val="006699"/>
          </a:solidFill>
          <a:ln w="12700">
            <a:solidFill>
              <a:srgbClr val="0066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2560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32688" y="2404872"/>
            <a:ext cx="342900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voile du palais s'applique contre la paroi postérieure du pharynx, isolant le rhinopharynx.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365760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7472" y="3886200"/>
            <a:ext cx="502920" cy="502920"/>
          </a:xfrm>
          <a:prstGeom prst="ellipse">
            <a:avLst/>
          </a:prstGeom>
          <a:solidFill>
            <a:srgbClr val="006699"/>
          </a:solidFill>
          <a:ln w="12700">
            <a:solidFill>
              <a:srgbClr val="0066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3886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32688" y="3730752"/>
            <a:ext cx="342900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L'os hyoïde s'élève, le larynx avance ; l'épiglotte ferme hermétiquement l'entrée du larynx.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09160" y="100584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82312" y="1234440"/>
            <a:ext cx="502920" cy="502920"/>
          </a:xfrm>
          <a:prstGeom prst="ellipse">
            <a:avLst/>
          </a:prstGeom>
          <a:solidFill>
            <a:srgbClr val="006699"/>
          </a:solidFill>
          <a:ln w="12700">
            <a:solidFill>
              <a:srgbClr val="0066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1234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367528" y="1078992"/>
            <a:ext cx="342900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racine de la langue recule ; le bol alimentaire franchit l'isthme du gosier.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09160" y="233172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82312" y="2560320"/>
            <a:ext cx="502920" cy="502920"/>
          </a:xfrm>
          <a:prstGeom prst="ellipse">
            <a:avLst/>
          </a:prstGeom>
          <a:solidFill>
            <a:srgbClr val="006699"/>
          </a:solidFill>
          <a:ln w="12700">
            <a:solidFill>
              <a:srgbClr val="0066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82312" y="2560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367528" y="2404872"/>
            <a:ext cx="342900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muscles longitudinaux du pharynx enveloppent le bol alimentaire.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09160" y="365760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82312" y="3886200"/>
            <a:ext cx="502920" cy="502920"/>
          </a:xfrm>
          <a:prstGeom prst="ellipse">
            <a:avLst/>
          </a:prstGeom>
          <a:solidFill>
            <a:srgbClr val="006699"/>
          </a:solidFill>
          <a:ln w="12700">
            <a:solidFill>
              <a:srgbClr val="00669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82312" y="3886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367528" y="3730752"/>
            <a:ext cx="342900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contraction successive des constricteurs propulse le bol dans l'œsophage.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6699"/>
          </a:solidFill>
          <a:ln w="12700">
            <a:solidFill>
              <a:srgbClr val="0066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Anatomie de l'intestin grêle et du rectum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336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2743200" cy="59436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024128"/>
            <a:ext cx="2596896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DUODÉNUM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(Duodenum)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66420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Longueur : 25–30 cm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029968"/>
            <a:ext cx="25603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 segment du grêle, en forme de fer à cheval. Reçoit la bile et les enzymes pancréatiques. Digestion chimique intense.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154680" y="1005840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6699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54680" y="1005840"/>
            <a:ext cx="2743200" cy="594360"/>
          </a:xfrm>
          <a:prstGeom prst="rect">
            <a:avLst/>
          </a:prstGeom>
          <a:solidFill>
            <a:srgbClr val="006699"/>
          </a:solidFill>
          <a:ln w="12700">
            <a:solidFill>
              <a:srgbClr val="0066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27832" y="1024128"/>
            <a:ext cx="2596896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JÉJUNUM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(Jejunum)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46120" y="166420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Longueur : 2–2,5 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46120" y="2029968"/>
            <a:ext cx="25603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moyen. Nombreuses villosités et plis circulaires (valvules conniventes). Absorption maximale des nutriments.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1005840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554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005840"/>
            <a:ext cx="2743200" cy="594360"/>
          </a:xfrm>
          <a:prstGeom prst="rect">
            <a:avLst/>
          </a:prstGeom>
          <a:solidFill>
            <a:srgbClr val="005544"/>
          </a:solidFill>
          <a:ln w="12700">
            <a:solidFill>
              <a:srgbClr val="0055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08192" y="1024128"/>
            <a:ext cx="2596896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ILÉON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(Ileum)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26480" y="166420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5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Longueur : 3–3,5 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26480" y="2029968"/>
            <a:ext cx="25603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terminal. Plaques de Peyer (tissu lymphoïde). Absorption de la vitamine B12 et des acides biliaires. Rejoint le gros intestin.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4343400"/>
            <a:ext cx="8595360" cy="68580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438912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RECTUM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segment terminal du gros intestin (~12–15 cm). Stockage et évacuation des matières fécales. Ampulla recti + canal anal.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6699"/>
          </a:solidFill>
          <a:ln w="12700">
            <a:solidFill>
              <a:srgbClr val="0066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 du système digestif — Organogenèse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86868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L'intestin primitif se forme à partir de l'endoderme aux 3e–4e semaines de gestation.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7680960" cy="0"/>
          </a:xfrm>
          <a:prstGeom prst="line">
            <a:avLst/>
          </a:prstGeom>
          <a:noFill/>
          <a:ln w="25400">
            <a:solidFill>
              <a:srgbClr val="CCCC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00200"/>
            <a:ext cx="411480" cy="411480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2344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3e sem.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2103120"/>
            <a:ext cx="16459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2103120"/>
            <a:ext cx="1645920" cy="73152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2194560"/>
            <a:ext cx="1499616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de l'intestin primitif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Mésentères dorsal et ventral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Différenciation ant./moy./post.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377440" y="1600200"/>
            <a:ext cx="411480" cy="411480"/>
          </a:xfrm>
          <a:prstGeom prst="ellipse">
            <a:avLst/>
          </a:prstGeom>
          <a:solidFill>
            <a:srgbClr val="006699"/>
          </a:solidFill>
          <a:ln w="12700">
            <a:solidFill>
              <a:srgbClr val="0066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11680" y="12344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4e sem.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011680" y="2103120"/>
            <a:ext cx="16459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669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11680" y="2103120"/>
            <a:ext cx="1645920" cy="73152"/>
          </a:xfrm>
          <a:prstGeom prst="rect">
            <a:avLst/>
          </a:prstGeom>
          <a:solidFill>
            <a:srgbClr val="006699"/>
          </a:solidFill>
          <a:ln w="12700">
            <a:solidFill>
              <a:srgbClr val="0066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84832" y="2194560"/>
            <a:ext cx="1499616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Ébauches de l'estomac, du foie, du pancréas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des arcs branchiaux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 90° de l'estomac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0" y="1600200"/>
            <a:ext cx="411480" cy="411480"/>
          </a:xfrm>
          <a:prstGeom prst="ellipse">
            <a:avLst/>
          </a:prstGeom>
          <a:solidFill>
            <a:srgbClr val="005544"/>
          </a:solidFill>
          <a:ln w="12700">
            <a:solidFill>
              <a:srgbClr val="0055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49040" y="12344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5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5e sem.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749040" y="2103120"/>
            <a:ext cx="16459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554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49040" y="2103120"/>
            <a:ext cx="1645920" cy="73152"/>
          </a:xfrm>
          <a:prstGeom prst="rect">
            <a:avLst/>
          </a:prstGeom>
          <a:solidFill>
            <a:srgbClr val="005544"/>
          </a:solidFill>
          <a:ln w="12700">
            <a:solidFill>
              <a:srgbClr val="0055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22192" y="2194560"/>
            <a:ext cx="1499616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 actif du tube intestinal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1ère rotation de l'anse (90°)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852160" y="1600200"/>
            <a:ext cx="411480" cy="411480"/>
          </a:xfrm>
          <a:prstGeom prst="ellipse">
            <a:avLst/>
          </a:prstGeom>
          <a:solidFill>
            <a:srgbClr val="993300"/>
          </a:solidFill>
          <a:ln w="12700">
            <a:solidFill>
              <a:srgbClr val="9933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0" y="12344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93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8–12e sem.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0" y="2103120"/>
            <a:ext cx="16459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9933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0" y="2103120"/>
            <a:ext cx="1645920" cy="73152"/>
          </a:xfrm>
          <a:prstGeom prst="rect">
            <a:avLst/>
          </a:prstGeom>
          <a:solidFill>
            <a:srgbClr val="993300"/>
          </a:solidFill>
          <a:ln w="12700">
            <a:solidFill>
              <a:srgbClr val="9933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59552" y="2194560"/>
            <a:ext cx="1499616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 de 270°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 de l'intestin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la cavité abdominale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589520" y="1600200"/>
            <a:ext cx="411480" cy="411480"/>
          </a:xfrm>
          <a:prstGeom prst="ellipse">
            <a:avLst/>
          </a:prstGeom>
          <a:solidFill>
            <a:srgbClr val="660066"/>
          </a:solidFill>
          <a:ln w="12700">
            <a:solidFill>
              <a:srgbClr val="66006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23760" y="12344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60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Nouveau-né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223760" y="2103120"/>
            <a:ext cx="16459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6006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223760" y="2103120"/>
            <a:ext cx="1645920" cy="73152"/>
          </a:xfrm>
          <a:prstGeom prst="rect">
            <a:avLst/>
          </a:prstGeom>
          <a:solidFill>
            <a:srgbClr val="660066"/>
          </a:solidFill>
          <a:ln w="12700">
            <a:solidFill>
              <a:srgbClr val="66006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96912" y="2194560"/>
            <a:ext cx="1499616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segments formés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Croissance et différenciation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poursuivent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6699"/>
          </a:solidFill>
          <a:ln w="12700">
            <a:solidFill>
              <a:srgbClr val="0066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Dérivés des arcs et poches branchiaux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45720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058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branchial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154680" y="10058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Structures osseuses &amp; musculaires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89320" y="10058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Innervation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463040"/>
            <a:ext cx="8595360" cy="685800"/>
          </a:xfrm>
          <a:prstGeom prst="rect">
            <a:avLst/>
          </a:prstGeom>
          <a:solidFill>
            <a:srgbClr val="F0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50876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Ier arc (mandibulaire)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154680" y="150876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Mâchoires sup./inf., derme facial,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muscles masticateurs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89320" y="150876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Nerf V (trijumeau)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194560"/>
            <a:ext cx="85953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24028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IIe arc (hyoïde)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154680" y="224028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Muscles de l'expression faciale,mos hyoïde (partie sup.)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89320" y="224028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Nerf VII (facial)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2926080"/>
            <a:ext cx="8595360" cy="685800"/>
          </a:xfrm>
          <a:prstGeom prst="rect">
            <a:avLst/>
          </a:prstGeom>
          <a:solidFill>
            <a:srgbClr val="F0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97180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IIIe arc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154680" y="297180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 corne de l'os hyoïde,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muscle stylopharyngien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89320" y="297180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Nerf IX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3657600"/>
            <a:ext cx="85953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70332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IVe–VIe arcs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154680" y="370332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Cartilages laryngés,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muscles du pharynx et larynx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989320" y="370332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Nerf X (vague)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" y="4526280"/>
            <a:ext cx="8595360" cy="457200"/>
          </a:xfrm>
          <a:prstGeom prst="rect">
            <a:avLst/>
          </a:prstGeom>
          <a:solidFill>
            <a:srgbClr val="006699"/>
          </a:solidFill>
          <a:ln w="12700">
            <a:solidFill>
              <a:srgbClr val="00669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4572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Poches branchiales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606040" y="4572000"/>
            <a:ext cx="6172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→ oreille moyenne  |  II → amygdales palatines  |  III–IV → parathyroïdes &amp; thymus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6699"/>
          </a:solidFill>
          <a:ln w="12700">
            <a:solidFill>
              <a:srgbClr val="0066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Principales anomalies congénitales du système digestif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6517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220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2651760" cy="73152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115568"/>
            <a:ext cx="25054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2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❶ Diverticule de Meckel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7472" y="1627632"/>
            <a:ext cx="2505456" cy="27432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719072"/>
            <a:ext cx="250545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Reste du canal omphalo-mésentérique sur l'iléon.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Complications : diverticulite, hémorragie, occlusion.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1005840"/>
            <a:ext cx="26517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220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005840"/>
            <a:ext cx="2651760" cy="73152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73552" y="1115568"/>
            <a:ext cx="25054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2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❷ Sténose pylorique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CC2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congénitale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73552" y="1627632"/>
            <a:ext cx="2505456" cy="27432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73552" y="1719072"/>
            <a:ext cx="250545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Hypertrophie du muscle circulaire du pylore.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Vomissements en jet chez le nourrisson.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005840"/>
            <a:ext cx="26517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220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005840"/>
            <a:ext cx="2651760" cy="73152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99632" y="1115568"/>
            <a:ext cx="25054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2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❸ Polykystose hépatique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99632" y="1627632"/>
            <a:ext cx="2505456" cy="27432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99632" y="1719072"/>
            <a:ext cx="250545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Multiples kystes dans le parenchyme hépatique.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Perturbe la fonction hépatique.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371600" y="2971800"/>
            <a:ext cx="33832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220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371600" y="2971800"/>
            <a:ext cx="3383280" cy="73152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444752" y="3081528"/>
            <a:ext cx="32369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2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❹ Atrésie anale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444752" y="3593592"/>
            <a:ext cx="3236976" cy="27432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4752" y="3685032"/>
            <a:ext cx="323697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de l'orifice anal.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Formes basses et hautes. Chirurgie urgente.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0" y="2971800"/>
            <a:ext cx="33832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220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0" y="2971800"/>
            <a:ext cx="3383280" cy="73152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45152" y="3081528"/>
            <a:ext cx="32369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2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❺ Atrésie de l'œsophage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645152" y="3593592"/>
            <a:ext cx="3236976" cy="27432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45152" y="3685032"/>
            <a:ext cx="323697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de la lumière œsophagienne.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Souvent + fistule trachéo-œsophagienne. Urgence néonatale.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6699"/>
          </a:solidFill>
          <a:ln w="12700">
            <a:solidFill>
              <a:srgbClr val="0066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Anatomie fonctionnelle du péritoine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91440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05840"/>
            <a:ext cx="8321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Péritoine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(peritoneum) — fine membrane séreuse semi-transparente recouvrant les parois internes de la cavité abdominale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(feuillet pariétal)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la surface des organes internes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(feuillet viscéral).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2011680"/>
            <a:ext cx="4160520" cy="1051560"/>
          </a:xfrm>
          <a:prstGeom prst="rect">
            <a:avLst/>
          </a:prstGeom>
          <a:solidFill>
            <a:srgbClr val="F0F5F9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2011680"/>
            <a:ext cx="73152" cy="105156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208483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Absorption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38912" y="246888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Absorbe liquides et gaz de la cavité abdominale.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17720" y="2011680"/>
            <a:ext cx="4160520" cy="1051560"/>
          </a:xfrm>
          <a:prstGeom prst="rect">
            <a:avLst/>
          </a:prstGeom>
          <a:solidFill>
            <a:srgbClr val="F0F5F9"/>
          </a:solidFill>
          <a:ln w="12700">
            <a:solidFill>
              <a:srgbClr val="00669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17720" y="2011680"/>
            <a:ext cx="73152" cy="1051560"/>
          </a:xfrm>
          <a:prstGeom prst="rect">
            <a:avLst/>
          </a:prstGeom>
          <a:solidFill>
            <a:srgbClr val="006699"/>
          </a:solidFill>
          <a:ln w="12700">
            <a:solidFill>
              <a:srgbClr val="0066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82312" y="208483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Barrière / Protection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82312" y="246888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Barrière mécanique et immunitaire contre les infections.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3200400"/>
            <a:ext cx="4160520" cy="1051560"/>
          </a:xfrm>
          <a:prstGeom prst="rect">
            <a:avLst/>
          </a:prstGeom>
          <a:solidFill>
            <a:srgbClr val="F0F5F9"/>
          </a:solidFill>
          <a:ln w="12700">
            <a:solidFill>
              <a:srgbClr val="00554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3200400"/>
            <a:ext cx="73152" cy="1051560"/>
          </a:xfrm>
          <a:prstGeom prst="rect">
            <a:avLst/>
          </a:prstGeom>
          <a:solidFill>
            <a:srgbClr val="005544"/>
          </a:solidFill>
          <a:ln w="12700">
            <a:solidFill>
              <a:srgbClr val="0055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327355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Sécrétion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38912" y="365760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 ~150 mL de liquide séreux lubrifiant par jour.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17720" y="3200400"/>
            <a:ext cx="4160520" cy="1051560"/>
          </a:xfrm>
          <a:prstGeom prst="rect">
            <a:avLst/>
          </a:prstGeom>
          <a:solidFill>
            <a:srgbClr val="F0F5F9"/>
          </a:solidFill>
          <a:ln w="12700">
            <a:solidFill>
              <a:srgbClr val="9933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17720" y="3200400"/>
            <a:ext cx="73152" cy="1051560"/>
          </a:xfrm>
          <a:prstGeom prst="rect">
            <a:avLst/>
          </a:prstGeom>
          <a:solidFill>
            <a:srgbClr val="993300"/>
          </a:solidFill>
          <a:ln w="12700">
            <a:solidFill>
              <a:srgbClr val="9933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82312" y="327355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3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Fixation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82312" y="365760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Mésentères et ligaments maintiennent les organes en position.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74320" y="4480560"/>
            <a:ext cx="8595360" cy="594360"/>
          </a:xfrm>
          <a:prstGeom prst="rect">
            <a:avLst/>
          </a:prstGeom>
          <a:solidFill>
            <a:srgbClr val="D4E8F5"/>
          </a:solidFill>
          <a:ln w="12700">
            <a:solidFill>
              <a:srgbClr val="0099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452628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: </a:t>
            </a:r>
            <a:pPr indent="0" marL="0">
              <a:buNone/>
            </a:pPr>
            <a:r>
              <a:rPr lang="en-US" sz="1300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Intrapéritonéaux (entourés entièrement) · </a:t>
            </a:r>
            <a:pPr indent="0" marL="0">
              <a:buNone/>
            </a:pPr>
            <a:r>
              <a:rPr lang="en-US" sz="1300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Mésopéritonéaux (3 côtés) · </a:t>
            </a:r>
            <a:pPr indent="0" marL="0">
              <a:buNone/>
            </a:pPr>
            <a:r>
              <a:rPr lang="en-US" sz="1300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Extrapéritonéaux (1 côté ou rétropéritonéaux)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33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CLÉS À RETENIR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585216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AACC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54864" cy="58521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05840"/>
            <a:ext cx="7909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splanchnologie étudie 4 systèmes d'organes internes : digestif, respiratoire, urinaire, génital.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618488"/>
            <a:ext cx="8229600" cy="585216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AACC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618488"/>
            <a:ext cx="54864" cy="58521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664208"/>
            <a:ext cx="7909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topographie repose sur 3 notions : holotopie, squélettotopie, syntopie.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276856"/>
            <a:ext cx="8229600" cy="585216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AACC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276856"/>
            <a:ext cx="54864" cy="58521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322576"/>
            <a:ext cx="7909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paroi du tube digestif comprend 4 tuniques : muqueuse, sous-muqueuse, musculaire, externe.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935224"/>
            <a:ext cx="8229600" cy="585216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AACC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935224"/>
            <a:ext cx="54864" cy="58521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980944"/>
            <a:ext cx="7909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rotation de l'intestin de 270° en embryogenèse détermine la configuration finale du cadre colique.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593592"/>
            <a:ext cx="8229600" cy="585216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AACC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593592"/>
            <a:ext cx="54864" cy="58521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639312"/>
            <a:ext cx="7909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principales anomalies : diverticule de Meckel, sténose pylorique, atrésie œsophagienne/anale.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251960"/>
            <a:ext cx="8229600" cy="585216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AACC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4251960"/>
            <a:ext cx="54864" cy="58521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297680"/>
            <a:ext cx="7909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péritoine assume 4 fonctions : absorption, protection, sécrétion et fixation des organes.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Anatomie Fonctionnelle du Système Digestif</dc:title>
  <dc:subject>PptxGenJS Presentation</dc:subject>
  <dc:creator>Sokolov D. A.</dc:creator>
  <cp:lastModifiedBy>Sokolov D. A.</cp:lastModifiedBy>
  <cp:revision>1</cp:revision>
  <dcterms:created xsi:type="dcterms:W3CDTF">2026-06-06T03:26:25Z</dcterms:created>
  <dcterms:modified xsi:type="dcterms:W3CDTF">2026-06-06T03:26:25Z</dcterms:modified>
</cp:coreProperties>
</file>